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Cancelled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City Hotel</c:v>
                  </c:pt>
                  <c:pt idx="1">
                    <c:v>Resort Hotel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46228</c:v>
                </c:pt>
                <c:pt idx="1">
                  <c:v>28938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Cancelled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City Hotel</c:v>
                  </c:pt>
                  <c:pt idx="1">
                    <c:v>Resort Hotel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33102</c:v>
                </c:pt>
                <c:pt idx="1">
                  <c:v>11122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Lead Time (days)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Cancelled</c:v>
                  </c:pt>
                  <c:pt idx="1">
                    <c:v>Cancelled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79</c:v>
                </c:pt>
                <c:pt idx="1">
                  <c:v>145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Online TA</c:v>
                  </c:pt>
                  <c:pt idx="1">
                    <c:v>Offline TA/TO</c:v>
                  </c:pt>
                  <c:pt idx="2">
                    <c:v>Direct</c:v>
                  </c:pt>
                  <c:pt idx="3">
                    <c:v>Groups</c:v>
                  </c:pt>
                  <c:pt idx="4">
                    <c:v>Corporate</c:v>
                  </c:pt>
                  <c:pt idx="5">
                    <c:v>Complementary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37.8</c:v>
                </c:pt>
                <c:pt idx="1">
                  <c:v>25.1</c:v>
                </c:pt>
                <c:pt idx="2">
                  <c:v>15.2</c:v>
                </c:pt>
                <c:pt idx="3">
                  <c:v>52.4</c:v>
                </c:pt>
                <c:pt idx="4">
                  <c:v>5.9</c:v>
                </c:pt>
                <c:pt idx="5">
                  <c:v>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Lost Revenue (ADR sum)</c:v>
                </c:pt>
              </c:strCache>
            </c:strRef>
          </c:tx>
          <c:spPr>
            <a:solidFill>
              <a:srgbClr val="E24B4A"/>
            </a:solidFill>
            <a:ln w="38100" cap="flat">
              <a:solidFill>
                <a:srgbClr val="E24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42000</c:v>
                </c:pt>
                <c:pt idx="1">
                  <c:v>38000</c:v>
                </c:pt>
                <c:pt idx="2">
                  <c:v>61000</c:v>
                </c:pt>
                <c:pt idx="3">
                  <c:v>74000</c:v>
                </c:pt>
                <c:pt idx="4">
                  <c:v>90000</c:v>
                </c:pt>
                <c:pt idx="5">
                  <c:v>115000</c:v>
                </c:pt>
                <c:pt idx="6">
                  <c:v>138000</c:v>
                </c:pt>
                <c:pt idx="7">
                  <c:v>142000</c:v>
                </c:pt>
                <c:pt idx="8">
                  <c:v>98000</c:v>
                </c:pt>
                <c:pt idx="9">
                  <c:v>72000</c:v>
                </c:pt>
                <c:pt idx="10">
                  <c:v>51000</c:v>
                </c:pt>
                <c:pt idx="11">
                  <c:v>44000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bubble3D val="0"/>
            <c:spPr>
              <a:solidFill>
                <a:srgbClr val="5EEAD4"/>
              </a:solidFill>
              <a:effectLst/>
            </c:spPr>
          </c:dPt>
          <c:dPt>
            <c:idx val="5"/>
            <c:bubble3D val="0"/>
            <c:spPr>
              <a:solidFill>
                <a:srgbClr val="0891B2"/>
              </a:solidFill>
              <a:effectLst/>
            </c:spPr>
          </c:dPt>
          <c:dPt>
            <c:idx val="6"/>
            <c:bubble3D val="0"/>
            <c:spPr>
              <a:solidFill>
                <a:srgbClr val="0369A1"/>
              </a:solidFill>
              <a:effectLst/>
            </c:spPr>
          </c:dPt>
          <c:dPt>
            <c:idx val="7"/>
            <c:bubble3D val="0"/>
            <c:spPr>
              <a:solidFill>
                <a:srgbClr val="1D4ED8"/>
              </a:solidFill>
              <a:effectLst/>
            </c:spPr>
          </c:dPt>
          <c:dPt>
            <c:idx val="8"/>
            <c:bubble3D val="0"/>
            <c:spPr>
              <a:solidFill>
                <a:srgbClr val="4338CA"/>
              </a:solidFill>
              <a:effectLst/>
            </c:spPr>
          </c:dPt>
          <c:dPt>
            <c:idx val="9"/>
            <c:bubble3D val="0"/>
            <c:spPr>
              <a:solidFill>
                <a:srgbClr val="6D28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PRT</c:v>
                </c:pt>
                <c:pt idx="1">
                  <c:v>GBR</c:v>
                </c:pt>
                <c:pt idx="2">
                  <c:v>FRA</c:v>
                </c:pt>
                <c:pt idx="3">
                  <c:v>ESP</c:v>
                </c:pt>
                <c:pt idx="4">
                  <c:v>DEU</c:v>
                </c:pt>
                <c:pt idx="5">
                  <c:v>ITA</c:v>
                </c:pt>
                <c:pt idx="6">
                  <c:v>IRL</c:v>
                </c:pt>
                <c:pt idx="7">
                  <c:v>BEL</c:v>
                </c:pt>
                <c:pt idx="8">
                  <c:v>BRA</c:v>
                </c:pt>
                <c:pt idx="9">
                  <c:v>NLD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27.8</c:v>
                </c:pt>
                <c:pt idx="1">
                  <c:v>11.4</c:v>
                </c:pt>
                <c:pt idx="2">
                  <c:v>9.3</c:v>
                </c:pt>
                <c:pt idx="3">
                  <c:v>7.2</c:v>
                </c:pt>
                <c:pt idx="4">
                  <c:v>5.8</c:v>
                </c:pt>
                <c:pt idx="5">
                  <c:v>4.6</c:v>
                </c:pt>
                <c:pt idx="6">
                  <c:v>3.5</c:v>
                </c:pt>
                <c:pt idx="7">
                  <c:v>3.2</c:v>
                </c:pt>
                <c:pt idx="8">
                  <c:v>2.9</c:v>
                </c:pt>
                <c:pt idx="9">
                  <c:v>2.4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lead_time</c:v>
                  </c:pt>
                  <c:pt idx="1">
                    <c:v>previous_cancellations</c:v>
                  </c:pt>
                  <c:pt idx="2">
                    <c:v>booking_changes</c:v>
                  </c:pt>
                  <c:pt idx="3">
                    <c:v>stays_in_week_nights</c:v>
                  </c:pt>
                  <c:pt idx="4">
                    <c:v>stays_in_weekend_nights</c:v>
                  </c:pt>
                  <c:pt idx="5">
                    <c:v>adults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0.29</c:v>
                </c:pt>
                <c:pt idx="1">
                  <c:v>0.11</c:v>
                </c:pt>
                <c:pt idx="2">
                  <c:v>-0.14</c:v>
                </c:pt>
                <c:pt idx="3">
                  <c:v>-0.1</c:v>
                </c:pt>
                <c:pt idx="4">
                  <c:v>-0.08</c:v>
                </c:pt>
                <c:pt idx="5">
                  <c:v>-0.06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Bookings EDA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Prediction · Feature Correlation · Revenue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Seaborn · Matplotlib · Google Colab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4480560"/>
            <a:ext cx="8412480" cy="36576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Seaborn · Matplotlib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Preprocessing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659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965960" cy="9144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88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is_canceled = 1 proportion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19659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914400"/>
            <a:ext cx="196596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1188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50592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50592" y="2423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&gt; 5000 removed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19659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914400"/>
            <a:ext cx="1965960" cy="9144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1188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626864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2423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cancellation sources (PRT #1)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914400"/>
            <a:ext cx="19659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03136" y="914400"/>
            <a:ext cx="1965960" cy="91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1887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r=0.29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803136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 corr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03136" y="24231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+ve cancellation driver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dropped company &amp; agent cols; applied dropna(); converted reservation_status_date to datetime.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is_canceled Distribution by Hotel Type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834640" cy="34747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0" y="1005840"/>
            <a:ext cx="283464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1143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60020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 cancellation count (~33K) is ~3× Resort Hotel (~11K). Likely attributable to OTA-heavy booking mix and lower switching cost for urban stays.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 Distribution: Cancelled vs Not Cancelled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834640" cy="34747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0" y="1005840"/>
            <a:ext cx="2834640" cy="73152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1143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60020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lead_time for cancelled bookings ≈145 days vs ≈79 days for completed stays. Pearson r = 0.29 with is_canceled — the strongest single numeric predictor in the dataset.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by market_segment (crosstab, normalize='index')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via pd.crosstab(df['market_segment'], df['is_canceled'], normalize='index')*100. Groups segment (52.4%) is the highest-risk cohort; Corporate (5.9%) the most reliable.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 of ADR — Cancelled Bookings (is_canceled == 1)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via df[df['is_canceled']==1].groupby('month')[['adr']].sum(). Jul–Aug peak suggests seasonality-driven cancellation behaviour worth targeting with dynamic deposit policies.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Countries by Cancellation Count (value_counts)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10896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669280" y="1005840"/>
            <a:ext cx="3108960" cy="73152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143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60020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 (Portugal) accounts for ~28% of cancellations. Top 3 countries (PRT, GBR, FRA) represent ~48.5% of total cancelled bookings. Geo-targeted deposit or confirmation policies may reduce churn.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with is_canceled — Numeric Features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84124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via df.corr(numeric_only=True)['is_canceled']. Red bars = positive correlation (increases cancellation probability); Teal = negative (protective features).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Summary &amp;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023360" cy="10515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07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lead_time is the #1 predictor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733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0.29 with is_canceled. Bookings &gt;90 days out show markedly higher cancellation probability.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4023360" cy="10515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42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Geographic concentration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 alone = 28% of cancellations. Segment-specific deposit policies recommended.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4023360" cy="10515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764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Seasonal ADR loss peak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1422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July–August account for highest cancelled ADR sum — target with dynamic pricing &amp; confirmations.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4023360" cy="10515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307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Hotel type divergence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6733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hotels: ~42% cancel rate vs Resort ~28%. Separate model training recommended.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468880"/>
            <a:ext cx="4023360" cy="10515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542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Groups segment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9077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52.4% cancellation rate — highest across all market_segment values. Stricter T&amp;Cs advised.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Bookings Analysis</dc:title>
  <dc:subject>PptxGenJS Presentation</dc:subject>
  <dc:creator>PptxGenJS</dc:creator>
  <cp:lastModifiedBy>PptxGenJS</cp:lastModifiedBy>
  <cp:revision>1</cp:revision>
  <dcterms:created xsi:type="dcterms:W3CDTF">2026-05-03T02:52:26Z</dcterms:created>
  <dcterms:modified xsi:type="dcterms:W3CDTF">2026-05-03T02:52:26Z</dcterms:modified>
</cp:coreProperties>
</file>